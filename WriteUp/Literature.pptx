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9"/>
  </p:notesMasterIdLst>
  <p:handoutMasterIdLst>
    <p:handoutMasterId r:id="rId10"/>
  </p:handoutMasterIdLst>
  <p:sldIdLst>
    <p:sldId id="643" r:id="rId2"/>
    <p:sldId id="650" r:id="rId3"/>
    <p:sldId id="644" r:id="rId4"/>
    <p:sldId id="645" r:id="rId5"/>
    <p:sldId id="646" r:id="rId6"/>
    <p:sldId id="647" r:id="rId7"/>
    <p:sldId id="648" r:id="rId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524">
          <p15:clr>
            <a:srgbClr val="A4A3A4"/>
          </p15:clr>
        </p15:guide>
        <p15:guide id="4" pos="2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94"/>
    <a:srgbClr val="00ABAA"/>
    <a:srgbClr val="AE1022"/>
    <a:srgbClr val="D0D0D0"/>
    <a:srgbClr val="D3D3D3"/>
    <a:srgbClr val="E0E0E0"/>
    <a:srgbClr val="878787"/>
    <a:srgbClr val="F28C26"/>
    <a:srgbClr val="FFBF08"/>
    <a:srgbClr val="B62A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58" autoAdjust="0"/>
    <p:restoredTop sz="87676" autoAdjust="0"/>
  </p:normalViewPr>
  <p:slideViewPr>
    <p:cSldViewPr showGuides="1">
      <p:cViewPr varScale="1">
        <p:scale>
          <a:sx n="73" d="100"/>
          <a:sy n="73" d="100"/>
        </p:scale>
        <p:origin x="596" y="-104"/>
      </p:cViewPr>
      <p:guideLst>
        <p:guide orient="horz" pos="1620"/>
        <p:guide pos="2880"/>
        <p:guide pos="5524"/>
        <p:guide pos="2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CCA8C-2727-A54D-B40F-70CF9669C616}" type="datetimeFigureOut">
              <a:rPr lang="fr-FR"/>
              <a:pPr/>
              <a:t>29/09/2025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FCA3-4FB0-F648-923A-3843471D4321}" type="slidenum">
              <a:rPr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2067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7D4E0-ADF2-4269-A368-F8657ABA7EB7}" type="datetimeFigureOut">
              <a:rPr lang="en-US" smtClean="0"/>
              <a:pPr/>
              <a:t>9/29/2025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DCFB2-2FC4-4A48-85D8-914292BD17B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5154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D0F4-DF01-35EA-B333-300B53B76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3F62C-9F72-FF06-9052-FD6400DA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964F5-A28F-662D-4EA3-9160EDBA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DCF7B-00E4-BA1D-A002-D5F328C7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F834-4A5A-60F6-BB94-565E869E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09062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8514-FA14-7162-260F-0AF424A2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A7DD-D8CB-BE7C-1022-C51BD813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4DBEE-5BC7-4FA8-BA42-FB026DFC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FD900-ADFB-A043-D3C2-FA523661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BB85-9238-BDBF-E539-9CD2659C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5718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2349-1908-BE0E-7FDD-34D6D504F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3F48C-673A-B50F-1E74-1207C0F0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201E9-4556-7F85-3A1C-15096E74C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AB6CD-CD70-62FB-6C81-01AAAD18D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90911-264D-BF27-4B0F-6CEE9CD76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05534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1C76-7AC5-0431-BE73-6358F01C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26FF-C563-DB2C-07D4-F8A5318F9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6958B-908D-8814-9DA2-2C6905652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7FC77-313B-8666-5CD7-1527DD2A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EAD6A-6486-1721-1EC7-A8EF10DF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D0B28-9C63-BBC6-5C9C-BE42721E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7935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BB09-82B8-C3DE-7ED9-8F3DA52F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8FF5C-3B01-8576-F56F-63BE12F02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62163-BC6B-20CD-AA61-A84A49B62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7EB80-CDDC-DE99-347F-93761E9E1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D7A27-BF13-D784-F149-F964046D5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0AB3F-AA92-A192-7635-5CC6BF18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101B5-1DED-4186-674C-CB7E4774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DBB426-95DA-D7F0-7438-FBA8AC8D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1418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F187-A54A-7588-BB3F-89B281A8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C5470-C3F5-87C5-980C-79F1F1F1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E9B86-31C0-1C55-B08C-AFA4175F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CBDEE-67B2-650A-613E-E3ABED91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97841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3AB25-9E8B-2645-53C4-D2A83885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FC286-4019-D1E6-F911-CC90B892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DF699-94AD-2D10-13C6-89BE7691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02053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B6B2-F96E-9C38-3F92-12AAEFC43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660CA-790F-696E-1F46-BA01E9166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8297F-2BDB-2060-9E0B-F15190E18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E77C1-31DE-CBC4-8ECD-E3F978AB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A01A6-086F-3B3F-36AE-AC19EDFE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A2DFC-C0A1-CCA4-9C71-28E9D638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870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CD65-1553-2C19-D5BA-08D955B85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537CA-613C-71EA-0CB0-8E2214A51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BD1CF-3661-6365-A91B-35A58FB65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2F231-1ADF-4871-B25D-1D6079D6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BB3F2-0A37-65BE-BB8C-9A1D9AD3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0DFC4-2AC6-A707-E324-925C9F38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7390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E370A-6FC1-A339-47C7-14B5D40C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F8F19-C526-7545-F2BE-FE9E6DB3B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A0399-4F11-2BA4-0B89-80D1613A4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1E2F-3ED4-86B4-E342-0AF3F939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5925C-E691-A44A-2B2A-CF3C780A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83902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40044-D3E7-A669-254D-77983809D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0C123-45ED-9A30-BA10-EFFE1CA1E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17A93-F6B5-9631-35C0-31E140B9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80D04-AFF8-1DDB-7504-EA4399A1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00D29-53D3-C6E4-CF76-86C11B79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67840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4C4DCEFD-DF8E-49D5-AC57-A796E5A217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619" y="339502"/>
            <a:ext cx="3527301" cy="7200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600" b="0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First line</a:t>
            </a:r>
            <a:br>
              <a:rPr lang="en-US" dirty="0"/>
            </a:br>
            <a:r>
              <a:rPr lang="en-US" dirty="0"/>
              <a:t>Of the headline</a:t>
            </a:r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1445E308-E33D-4DD7-B528-7AAEF390C5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995686"/>
            <a:ext cx="1872208" cy="22781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sz="1300" b="0">
                <a:solidFill>
                  <a:schemeClr val="tx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fr-FR" dirty="0"/>
              <a:t>Abusus enim multitudine </a:t>
            </a:r>
            <a:r>
              <a:rPr lang="fr-FR" dirty="0" err="1"/>
              <a:t>hominum</a:t>
            </a:r>
            <a:r>
              <a:rPr lang="fr-FR" dirty="0"/>
              <a:t>,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tranquillis</a:t>
            </a:r>
            <a:r>
              <a:rPr lang="fr-FR" dirty="0"/>
              <a:t> in rebus </a:t>
            </a:r>
            <a:r>
              <a:rPr lang="fr-FR" dirty="0" err="1"/>
              <a:t>diutius</a:t>
            </a:r>
            <a:r>
              <a:rPr lang="fr-FR" dirty="0"/>
              <a:t> </a:t>
            </a:r>
            <a:r>
              <a:rPr lang="fr-FR" dirty="0" err="1"/>
              <a:t>rexit</a:t>
            </a:r>
            <a:r>
              <a:rPr lang="fr-FR" dirty="0"/>
              <a:t>, ex </a:t>
            </a:r>
            <a:r>
              <a:rPr lang="fr-FR" dirty="0" err="1"/>
              <a:t>agrestibus</a:t>
            </a:r>
            <a:r>
              <a:rPr lang="fr-FR" dirty="0"/>
              <a:t> </a:t>
            </a:r>
            <a:r>
              <a:rPr lang="fr-FR" dirty="0" err="1"/>
              <a:t>habitaculis</a:t>
            </a:r>
            <a:r>
              <a:rPr lang="fr-FR" dirty="0"/>
              <a:t> </a:t>
            </a:r>
            <a:r>
              <a:rPr lang="fr-FR" dirty="0" err="1"/>
              <a:t>urbes</a:t>
            </a:r>
            <a:r>
              <a:rPr lang="fr-FR" dirty="0"/>
              <a:t> </a:t>
            </a:r>
            <a:r>
              <a:rPr lang="fr-FR" dirty="0" err="1"/>
              <a:t>construxit</a:t>
            </a:r>
            <a:r>
              <a:rPr lang="fr-FR" dirty="0"/>
              <a:t> </a:t>
            </a:r>
            <a:r>
              <a:rPr lang="fr-FR" dirty="0" err="1"/>
              <a:t>multis</a:t>
            </a:r>
            <a:r>
              <a:rPr lang="fr-FR" dirty="0"/>
              <a:t> </a:t>
            </a:r>
            <a:r>
              <a:rPr lang="fr-FR" dirty="0" err="1"/>
              <a:t>opibus</a:t>
            </a:r>
            <a:r>
              <a:rPr lang="fr-FR" dirty="0"/>
              <a:t> </a:t>
            </a:r>
            <a:r>
              <a:rPr lang="fr-FR" dirty="0" err="1"/>
              <a:t>firmas</a:t>
            </a:r>
            <a:endParaRPr lang="fr-FR" dirty="0"/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3838AEB7-814F-4501-B3B0-295E086483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592" y="1707654"/>
            <a:ext cx="1872208" cy="288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fr-FR" dirty="0"/>
              <a:t>Subtitle</a:t>
            </a:r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DF18E9B8-1D26-4B26-97FC-0474D1DFA80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347864" y="1131590"/>
            <a:ext cx="3456384" cy="31422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icon to add chart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586159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9C2774E4-5C64-4C62-984F-3967F8EB8213}"/>
              </a:ext>
            </a:extLst>
          </p:cNvPr>
          <p:cNvCxnSpPr>
            <a:cxnSpLocks/>
          </p:cNvCxnSpPr>
          <p:nvPr userDrawn="1"/>
        </p:nvCxnSpPr>
        <p:spPr>
          <a:xfrm>
            <a:off x="0" y="915566"/>
            <a:ext cx="9144000" cy="0"/>
          </a:xfrm>
          <a:prstGeom prst="line">
            <a:avLst/>
          </a:prstGeom>
          <a:ln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88241F9B-0D2C-427A-A3BB-2BECB174CFED}"/>
              </a:ext>
            </a:extLst>
          </p:cNvPr>
          <p:cNvCxnSpPr>
            <a:cxnSpLocks/>
          </p:cNvCxnSpPr>
          <p:nvPr userDrawn="1"/>
        </p:nvCxnSpPr>
        <p:spPr>
          <a:xfrm>
            <a:off x="0" y="4155926"/>
            <a:ext cx="7020272" cy="0"/>
          </a:xfrm>
          <a:prstGeom prst="line">
            <a:avLst/>
          </a:prstGeom>
          <a:ln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180363E9-1308-4C0E-BDA5-CF390AD35CAC}"/>
              </a:ext>
            </a:extLst>
          </p:cNvPr>
          <p:cNvCxnSpPr>
            <a:cxnSpLocks/>
          </p:cNvCxnSpPr>
          <p:nvPr userDrawn="1"/>
        </p:nvCxnSpPr>
        <p:spPr>
          <a:xfrm>
            <a:off x="971600" y="0"/>
            <a:ext cx="0" cy="5143500"/>
          </a:xfrm>
          <a:prstGeom prst="line">
            <a:avLst/>
          </a:prstGeom>
          <a:ln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33F0FED1-B8F9-445B-959A-F64BB176898C}"/>
              </a:ext>
            </a:extLst>
          </p:cNvPr>
          <p:cNvSpPr/>
          <p:nvPr userDrawn="1"/>
        </p:nvSpPr>
        <p:spPr>
          <a:xfrm>
            <a:off x="899592" y="843558"/>
            <a:ext cx="144016" cy="144016"/>
          </a:xfrm>
          <a:prstGeom prst="ellipse">
            <a:avLst/>
          </a:prstGeom>
          <a:solidFill>
            <a:srgbClr val="87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F7C9BB3-3FAB-4AF6-A672-13B009C327B3}"/>
              </a:ext>
            </a:extLst>
          </p:cNvPr>
          <p:cNvSpPr/>
          <p:nvPr userDrawn="1"/>
        </p:nvSpPr>
        <p:spPr>
          <a:xfrm>
            <a:off x="899592" y="3579862"/>
            <a:ext cx="144016" cy="144016"/>
          </a:xfrm>
          <a:prstGeom prst="ellipse">
            <a:avLst/>
          </a:prstGeom>
          <a:solidFill>
            <a:srgbClr val="AE1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953AD7C-105B-44C2-B8FA-6295064382B1}"/>
              </a:ext>
            </a:extLst>
          </p:cNvPr>
          <p:cNvSpPr/>
          <p:nvPr userDrawn="1"/>
        </p:nvSpPr>
        <p:spPr>
          <a:xfrm>
            <a:off x="899592" y="4083918"/>
            <a:ext cx="144016" cy="144016"/>
          </a:xfrm>
          <a:prstGeom prst="ellipse">
            <a:avLst/>
          </a:prstGeom>
          <a:solidFill>
            <a:srgbClr val="878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B770CC4A-0144-496C-B843-8E6984A9B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288" y="3942080"/>
            <a:ext cx="1600892" cy="715724"/>
          </a:xfrm>
          <a:prstGeom prst="rect">
            <a:avLst/>
          </a:prstGeom>
        </p:spPr>
      </p:pic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E87A3DCC-5F52-46C1-83E5-0DCD52BF0A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9228" y="2571750"/>
            <a:ext cx="2930724" cy="865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A short description about the subject of the presentation. Can be used as a subtitle.</a:t>
            </a:r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C72245EA-CCDD-44D2-815D-356CD05756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9228" y="1203598"/>
            <a:ext cx="4010844" cy="12961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500"/>
              </a:lnSpc>
              <a:spcBef>
                <a:spcPts val="0"/>
              </a:spcBef>
              <a:buNone/>
              <a:defRPr sz="4800">
                <a:solidFill>
                  <a:srgbClr val="AE1022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fr-FR" dirty="0"/>
              <a:t>Document Title</a:t>
            </a:r>
          </a:p>
        </p:txBody>
      </p:sp>
      <p:sp>
        <p:nvSpPr>
          <p:cNvPr id="36" name="Espace réservé du texte 32">
            <a:extLst>
              <a:ext uri="{FF2B5EF4-FFF2-40B4-BE49-F238E27FC236}">
                <a16:creationId xmlns:a16="http://schemas.microsoft.com/office/drawing/2014/main" id="{16284A64-7B54-461F-9363-2BE4503F91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9227" y="3507855"/>
            <a:ext cx="2930724" cy="2880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rgbClr val="AE1022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Presentation date</a:t>
            </a: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6A01797-8D6C-4BBB-8B5F-CB24DB662E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619" y="339502"/>
            <a:ext cx="3527301" cy="7200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600" b="0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First line</a:t>
            </a:r>
            <a:br>
              <a:rPr lang="en-US" dirty="0"/>
            </a:br>
            <a:r>
              <a:rPr lang="en-US" dirty="0"/>
              <a:t>Of the headline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F734305-4997-41D6-B5C3-AD35E80BE4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7945" y="1635646"/>
            <a:ext cx="3024336" cy="22781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sz="1300" b="0">
                <a:solidFill>
                  <a:schemeClr val="tx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fr-FR" dirty="0"/>
              <a:t>Abusus enim multitudine </a:t>
            </a:r>
            <a:r>
              <a:rPr lang="fr-FR" dirty="0" err="1"/>
              <a:t>hominum</a:t>
            </a:r>
            <a:r>
              <a:rPr lang="fr-FR" dirty="0"/>
              <a:t>,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tranquillis</a:t>
            </a:r>
            <a:r>
              <a:rPr lang="fr-FR" dirty="0"/>
              <a:t> in rebus </a:t>
            </a:r>
            <a:r>
              <a:rPr lang="fr-FR" dirty="0" err="1"/>
              <a:t>diutius</a:t>
            </a:r>
            <a:r>
              <a:rPr lang="fr-FR" dirty="0"/>
              <a:t> </a:t>
            </a:r>
            <a:r>
              <a:rPr lang="fr-FR" dirty="0" err="1"/>
              <a:t>rexit</a:t>
            </a:r>
            <a:r>
              <a:rPr lang="fr-FR" dirty="0"/>
              <a:t>, ex </a:t>
            </a:r>
            <a:r>
              <a:rPr lang="fr-FR" dirty="0" err="1"/>
              <a:t>agrestibus</a:t>
            </a:r>
            <a:r>
              <a:rPr lang="fr-FR" dirty="0"/>
              <a:t> </a:t>
            </a:r>
            <a:r>
              <a:rPr lang="fr-FR" dirty="0" err="1"/>
              <a:t>habitaculis</a:t>
            </a:r>
            <a:r>
              <a:rPr lang="fr-FR" dirty="0"/>
              <a:t> </a:t>
            </a:r>
            <a:r>
              <a:rPr lang="fr-FR" dirty="0" err="1"/>
              <a:t>urbes</a:t>
            </a:r>
            <a:r>
              <a:rPr lang="fr-FR" dirty="0"/>
              <a:t> </a:t>
            </a:r>
            <a:r>
              <a:rPr lang="fr-FR" dirty="0" err="1"/>
              <a:t>construxit</a:t>
            </a:r>
            <a:r>
              <a:rPr lang="fr-FR" dirty="0"/>
              <a:t> </a:t>
            </a:r>
            <a:r>
              <a:rPr lang="fr-FR" dirty="0" err="1"/>
              <a:t>multis</a:t>
            </a:r>
            <a:r>
              <a:rPr lang="fr-FR" dirty="0"/>
              <a:t> </a:t>
            </a:r>
            <a:r>
              <a:rPr lang="fr-FR" dirty="0" err="1"/>
              <a:t>opibus</a:t>
            </a:r>
            <a:r>
              <a:rPr lang="fr-FR" dirty="0"/>
              <a:t> </a:t>
            </a:r>
            <a:r>
              <a:rPr lang="fr-FR" dirty="0" err="1"/>
              <a:t>firmas</a:t>
            </a:r>
            <a:r>
              <a:rPr lang="fr-FR" dirty="0"/>
              <a:t> et </a:t>
            </a:r>
            <a:r>
              <a:rPr lang="fr-FR" dirty="0" err="1"/>
              <a:t>viribus</a:t>
            </a:r>
            <a:r>
              <a:rPr lang="fr-FR" dirty="0"/>
              <a:t>, </a:t>
            </a:r>
            <a:r>
              <a:rPr lang="fr-FR" dirty="0" err="1"/>
              <a:t>quarum</a:t>
            </a:r>
            <a:r>
              <a:rPr lang="fr-FR" dirty="0"/>
              <a:t> ad </a:t>
            </a:r>
            <a:r>
              <a:rPr lang="fr-FR" dirty="0" err="1"/>
              <a:t>praesens</a:t>
            </a:r>
            <a:r>
              <a:rPr lang="fr-FR" dirty="0"/>
              <a:t> </a:t>
            </a:r>
            <a:r>
              <a:rPr lang="fr-FR" dirty="0" err="1"/>
              <a:t>pleraeque</a:t>
            </a:r>
            <a:r>
              <a:rPr lang="fr-FR" dirty="0"/>
              <a:t> </a:t>
            </a:r>
            <a:r>
              <a:rPr lang="fr-FR" dirty="0" err="1"/>
              <a:t>licet</a:t>
            </a:r>
            <a:r>
              <a:rPr lang="fr-FR" dirty="0"/>
              <a:t> </a:t>
            </a:r>
            <a:r>
              <a:rPr lang="fr-FR" dirty="0" err="1"/>
              <a:t>Graecis</a:t>
            </a:r>
            <a:r>
              <a:rPr lang="fr-FR" dirty="0"/>
              <a:t> </a:t>
            </a:r>
            <a:r>
              <a:rPr lang="fr-FR" dirty="0" err="1"/>
              <a:t>nominibus</a:t>
            </a:r>
            <a:r>
              <a:rPr lang="fr-FR" dirty="0"/>
              <a:t> </a:t>
            </a:r>
            <a:r>
              <a:rPr lang="fr-FR" dirty="0" err="1"/>
              <a:t>appellentur</a:t>
            </a:r>
            <a:r>
              <a:rPr lang="fr-FR" dirty="0"/>
              <a:t>, </a:t>
            </a:r>
            <a:r>
              <a:rPr lang="fr-FR" dirty="0" err="1"/>
              <a:t>quae</a:t>
            </a:r>
            <a:r>
              <a:rPr lang="fr-FR" dirty="0"/>
              <a:t> </a:t>
            </a:r>
            <a:r>
              <a:rPr lang="fr-FR" dirty="0" err="1"/>
              <a:t>isdem</a:t>
            </a:r>
            <a:r>
              <a:rPr lang="fr-FR" dirty="0"/>
              <a:t> ad </a:t>
            </a:r>
            <a:r>
              <a:rPr lang="fr-FR" dirty="0" err="1"/>
              <a:t>arbitrium</a:t>
            </a:r>
            <a:r>
              <a:rPr lang="fr-FR" dirty="0"/>
              <a:t> </a:t>
            </a:r>
            <a:r>
              <a:rPr lang="fr-FR" dirty="0" err="1"/>
              <a:t>inposita</a:t>
            </a:r>
            <a:r>
              <a:rPr lang="fr-FR" dirty="0"/>
              <a:t> </a:t>
            </a:r>
            <a:r>
              <a:rPr lang="fr-FR" dirty="0" err="1"/>
              <a:t>sunt</a:t>
            </a:r>
            <a:r>
              <a:rPr lang="fr-FR" dirty="0"/>
              <a:t> </a:t>
            </a:r>
            <a:r>
              <a:rPr lang="fr-FR" dirty="0" err="1"/>
              <a:t>conditoris</a:t>
            </a:r>
            <a:r>
              <a:rPr lang="fr-FR" dirty="0"/>
              <a:t>, </a:t>
            </a:r>
            <a:r>
              <a:rPr lang="fr-FR" dirty="0" err="1"/>
              <a:t>primigenia</a:t>
            </a:r>
            <a:r>
              <a:rPr lang="fr-FR" dirty="0"/>
              <a:t> </a:t>
            </a:r>
            <a:r>
              <a:rPr lang="fr-FR" dirty="0" err="1"/>
              <a:t>tamen</a:t>
            </a:r>
            <a:r>
              <a:rPr lang="fr-FR" dirty="0"/>
              <a:t> nomina non </a:t>
            </a:r>
            <a:r>
              <a:rPr lang="fr-FR" dirty="0" err="1"/>
              <a:t>amittunt</a:t>
            </a:r>
            <a:r>
              <a:rPr lang="fr-FR" dirty="0"/>
              <a:t>, </a:t>
            </a:r>
            <a:r>
              <a:rPr lang="fr-FR" dirty="0" err="1"/>
              <a:t>quae</a:t>
            </a:r>
            <a:r>
              <a:rPr lang="fr-FR" dirty="0"/>
              <a:t> </a:t>
            </a:r>
            <a:r>
              <a:rPr lang="fr-FR" dirty="0" err="1"/>
              <a:t>eis</a:t>
            </a:r>
            <a:endParaRPr lang="fr-FR" dirty="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2527C28F-4A99-4774-A672-5D1B9EEC6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67945" y="1347614"/>
            <a:ext cx="3024336" cy="288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fr-FR" dirty="0"/>
              <a:t>Subtitle</a:t>
            </a:r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EFADFAF9-AE6E-498A-A329-A501546781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5" y="1347614"/>
            <a:ext cx="3844925" cy="2565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fr-FR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688A8CDE-DB91-41CF-8FE6-6728257111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4619" y="1445692"/>
            <a:ext cx="2699210" cy="3339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Main subtitle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D606C188-8B0F-413B-A845-2FC2D28247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5498" y="1783870"/>
            <a:ext cx="2699210" cy="2300048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 b="0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246062" indent="0">
              <a:lnSpc>
                <a:spcPts val="150"/>
              </a:lnSpc>
              <a:buNone/>
              <a:defRPr sz="900">
                <a:solidFill>
                  <a:srgbClr val="AE1022"/>
                </a:solidFill>
                <a:latin typeface="+mj-lt"/>
              </a:defRPr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 title 1</a:t>
            </a:r>
          </a:p>
          <a:p>
            <a:pPr marL="285750" marR="0" lvl="0" indent="-28575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Sub title 1</a:t>
            </a:r>
          </a:p>
          <a:p>
            <a:pPr marL="285750" marR="0" lvl="0" indent="-28575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Sub title 1</a:t>
            </a:r>
          </a:p>
          <a:p>
            <a:pPr marL="531812" marR="0" lvl="2" indent="-28575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Links</a:t>
            </a:r>
          </a:p>
          <a:p>
            <a:pPr marL="531812" marR="0" lvl="2" indent="-28575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Links</a:t>
            </a:r>
          </a:p>
          <a:p>
            <a:pPr marL="531812" marR="0" lvl="2" indent="-28575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Links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7A920D5C-621F-4AA3-9973-F64124C5B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6780" y="1087066"/>
            <a:ext cx="2752527" cy="2160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Main Font content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39930FB7-9F65-4686-A055-59779F7103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780" y="1388842"/>
            <a:ext cx="2752527" cy="10691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sz="1300" b="0">
                <a:solidFill>
                  <a:schemeClr val="tx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 err="1"/>
              <a:t>Abusus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multitudine</a:t>
            </a:r>
            <a:r>
              <a:rPr lang="en-US" dirty="0"/>
              <a:t> </a:t>
            </a:r>
            <a:r>
              <a:rPr lang="en-US" dirty="0" err="1"/>
              <a:t>hominum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tranquillis</a:t>
            </a:r>
            <a:r>
              <a:rPr lang="en-US" dirty="0"/>
              <a:t> in rebus </a:t>
            </a:r>
            <a:r>
              <a:rPr lang="en-US" dirty="0" err="1"/>
              <a:t>diutius</a:t>
            </a:r>
            <a:r>
              <a:rPr lang="en-US" dirty="0"/>
              <a:t> </a:t>
            </a:r>
            <a:r>
              <a:rPr lang="en-US" dirty="0" err="1"/>
              <a:t>rexit</a:t>
            </a:r>
            <a:r>
              <a:rPr lang="en-US" dirty="0"/>
              <a:t>, ex </a:t>
            </a:r>
            <a:r>
              <a:rPr lang="en-US" dirty="0" err="1"/>
              <a:t>agrestibus</a:t>
            </a:r>
            <a:r>
              <a:rPr lang="en-US" dirty="0"/>
              <a:t> </a:t>
            </a:r>
            <a:r>
              <a:rPr lang="en-US" dirty="0" err="1"/>
              <a:t>habitaculis</a:t>
            </a:r>
            <a:r>
              <a:rPr lang="en-US" dirty="0"/>
              <a:t> </a:t>
            </a:r>
            <a:r>
              <a:rPr lang="en-US" dirty="0" err="1"/>
              <a:t>urbes</a:t>
            </a:r>
            <a:r>
              <a:rPr lang="en-US" dirty="0"/>
              <a:t> </a:t>
            </a:r>
            <a:r>
              <a:rPr lang="en-US" dirty="0" err="1"/>
              <a:t>construxit</a:t>
            </a:r>
            <a:r>
              <a:rPr lang="en-US" dirty="0"/>
              <a:t> multis </a:t>
            </a:r>
            <a:r>
              <a:rPr lang="en-US" dirty="0" err="1"/>
              <a:t>opibus</a:t>
            </a:r>
            <a:r>
              <a:rPr lang="en-US" dirty="0"/>
              <a:t> </a:t>
            </a:r>
            <a:r>
              <a:rPr lang="en-US" dirty="0" err="1"/>
              <a:t>firmas</a:t>
            </a:r>
            <a:r>
              <a:rPr lang="en-US" dirty="0"/>
              <a:t> et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3541AA8C-75F6-4388-A56B-54180CA5CE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6780" y="2543698"/>
            <a:ext cx="2752527" cy="2160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Small Font content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85647024-A663-4BF6-AF91-87A071AC31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6780" y="2845474"/>
            <a:ext cx="2752527" cy="123844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 err="1"/>
              <a:t>Abusus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multitudine</a:t>
            </a:r>
            <a:r>
              <a:rPr lang="en-US" dirty="0"/>
              <a:t> </a:t>
            </a:r>
            <a:r>
              <a:rPr lang="en-US" dirty="0" err="1"/>
              <a:t>hominum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tranquillis</a:t>
            </a:r>
            <a:r>
              <a:rPr lang="en-US" dirty="0"/>
              <a:t> in rebus </a:t>
            </a:r>
            <a:r>
              <a:rPr lang="en-US" dirty="0" err="1"/>
              <a:t>diutius</a:t>
            </a:r>
            <a:r>
              <a:rPr lang="en-US" dirty="0"/>
              <a:t> </a:t>
            </a:r>
            <a:r>
              <a:rPr lang="en-US" dirty="0" err="1"/>
              <a:t>rexit</a:t>
            </a:r>
            <a:r>
              <a:rPr lang="en-US" dirty="0"/>
              <a:t>, ex </a:t>
            </a:r>
            <a:r>
              <a:rPr lang="en-US" dirty="0" err="1"/>
              <a:t>agrestibus</a:t>
            </a:r>
            <a:r>
              <a:rPr lang="en-US" dirty="0"/>
              <a:t> </a:t>
            </a:r>
            <a:r>
              <a:rPr lang="en-US" dirty="0" err="1"/>
              <a:t>habitaculis</a:t>
            </a:r>
            <a:r>
              <a:rPr lang="en-US" dirty="0"/>
              <a:t> </a:t>
            </a:r>
            <a:r>
              <a:rPr lang="en-US" dirty="0" err="1"/>
              <a:t>urbes</a:t>
            </a:r>
            <a:r>
              <a:rPr lang="en-US" dirty="0"/>
              <a:t> </a:t>
            </a:r>
            <a:r>
              <a:rPr lang="en-US" dirty="0" err="1"/>
              <a:t>construxit</a:t>
            </a:r>
            <a:r>
              <a:rPr lang="en-US" dirty="0"/>
              <a:t> multis </a:t>
            </a:r>
            <a:r>
              <a:rPr lang="en-US" dirty="0" err="1"/>
              <a:t>opibus</a:t>
            </a:r>
            <a:r>
              <a:rPr lang="en-US" dirty="0"/>
              <a:t> </a:t>
            </a:r>
            <a:r>
              <a:rPr lang="en-US" dirty="0" err="1"/>
              <a:t>firmas</a:t>
            </a:r>
            <a:r>
              <a:rPr lang="en-US" dirty="0"/>
              <a:t> et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F819B75E-0D8D-45F7-A870-1BB4A966A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619" y="339502"/>
            <a:ext cx="3527301" cy="7200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600" b="0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First line</a:t>
            </a:r>
            <a:br>
              <a:rPr lang="en-US" dirty="0"/>
            </a:br>
            <a:r>
              <a:rPr lang="en-US" dirty="0"/>
              <a:t>Of the headline</a:t>
            </a:r>
          </a:p>
        </p:txBody>
      </p:sp>
    </p:spTree>
    <p:extLst>
      <p:ext uri="{BB962C8B-B14F-4D97-AF65-F5344CB8AC3E}">
        <p14:creationId xmlns:p14="http://schemas.microsoft.com/office/powerpoint/2010/main" val="286686692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3672B2D3-DBE6-4530-9208-F7BDEB9D6F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619" y="339502"/>
            <a:ext cx="3527301" cy="7200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600" b="0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First line</a:t>
            </a:r>
            <a:br>
              <a:rPr lang="en-US" dirty="0"/>
            </a:br>
            <a:r>
              <a:rPr lang="en-US" dirty="0"/>
              <a:t>Of the headline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49672AB-138D-43EB-AECE-9FAA6E62B1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6750" y="1347614"/>
            <a:ext cx="2160588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fr-FR" dirty="0"/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FC9AD440-31A5-414B-9B24-FCF59855D3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43362" y="1347614"/>
            <a:ext cx="2160588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fr-FR" dirty="0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D5C372A6-16A0-492A-8A26-10B3345440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9382" y="1347614"/>
            <a:ext cx="2160588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  <a:endParaRPr lang="fr-FR" dirty="0"/>
          </a:p>
        </p:txBody>
      </p:sp>
      <p:sp>
        <p:nvSpPr>
          <p:cNvPr id="29" name="Espace réservé du texte 5">
            <a:extLst>
              <a:ext uri="{FF2B5EF4-FFF2-40B4-BE49-F238E27FC236}">
                <a16:creationId xmlns:a16="http://schemas.microsoft.com/office/drawing/2014/main" id="{D66A4CAD-6588-4968-B1C2-009E9532E7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5337" y="3003798"/>
            <a:ext cx="2232001" cy="2160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Small Font content</a:t>
            </a:r>
          </a:p>
        </p:txBody>
      </p:sp>
      <p:sp>
        <p:nvSpPr>
          <p:cNvPr id="30" name="Espace réservé du texte 5">
            <a:extLst>
              <a:ext uri="{FF2B5EF4-FFF2-40B4-BE49-F238E27FC236}">
                <a16:creationId xmlns:a16="http://schemas.microsoft.com/office/drawing/2014/main" id="{3FCD4FF4-E5B2-4B6E-85F0-05DA21237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37" y="3287158"/>
            <a:ext cx="2232001" cy="7343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 err="1"/>
              <a:t>Viribus</a:t>
            </a:r>
            <a:r>
              <a:rPr lang="en-US" dirty="0"/>
              <a:t>, </a:t>
            </a:r>
            <a:r>
              <a:rPr lang="en-US" dirty="0" err="1"/>
              <a:t>quarum</a:t>
            </a:r>
            <a:r>
              <a:rPr lang="en-US" dirty="0"/>
              <a:t> ad </a:t>
            </a:r>
            <a:r>
              <a:rPr lang="en-US" dirty="0" err="1"/>
              <a:t>praesens</a:t>
            </a:r>
            <a:r>
              <a:rPr lang="en-US" dirty="0"/>
              <a:t> </a:t>
            </a:r>
            <a:r>
              <a:rPr lang="en-US" dirty="0" err="1"/>
              <a:t>pleraeque</a:t>
            </a:r>
            <a:r>
              <a:rPr lang="en-US" dirty="0"/>
              <a:t> licet </a:t>
            </a:r>
            <a:r>
              <a:rPr lang="en-US" dirty="0" err="1"/>
              <a:t>Graecis</a:t>
            </a:r>
            <a:r>
              <a:rPr lang="en-US" dirty="0"/>
              <a:t> </a:t>
            </a:r>
            <a:r>
              <a:rPr lang="en-US" dirty="0" err="1"/>
              <a:t>nominibus</a:t>
            </a:r>
            <a:r>
              <a:rPr lang="en-US" dirty="0"/>
              <a:t> </a:t>
            </a:r>
            <a:r>
              <a:rPr lang="en-US" dirty="0" err="1"/>
              <a:t>appellentur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</a:t>
            </a:r>
            <a:r>
              <a:rPr lang="en-US" dirty="0" err="1"/>
              <a:t>isdem</a:t>
            </a:r>
            <a:r>
              <a:rPr lang="en-US" dirty="0"/>
              <a:t> ad </a:t>
            </a:r>
            <a:r>
              <a:rPr lang="en-US" dirty="0" err="1"/>
              <a:t>arbitrium</a:t>
            </a:r>
            <a:r>
              <a:rPr lang="en-US" dirty="0"/>
              <a:t> </a:t>
            </a:r>
            <a:r>
              <a:rPr lang="en-US" dirty="0" err="1"/>
              <a:t>inposita</a:t>
            </a:r>
            <a:r>
              <a:rPr lang="en-US" dirty="0"/>
              <a:t>.</a:t>
            </a:r>
          </a:p>
        </p:txBody>
      </p:sp>
      <p:sp>
        <p:nvSpPr>
          <p:cNvPr id="31" name="Espace réservé du texte 5">
            <a:extLst>
              <a:ext uri="{FF2B5EF4-FFF2-40B4-BE49-F238E27FC236}">
                <a16:creationId xmlns:a16="http://schemas.microsoft.com/office/drawing/2014/main" id="{D11A447F-7CE2-4175-8736-01654452A1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21753" y="2997865"/>
            <a:ext cx="2232001" cy="2160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Small Font content</a:t>
            </a:r>
          </a:p>
        </p:txBody>
      </p:sp>
      <p:sp>
        <p:nvSpPr>
          <p:cNvPr id="32" name="Espace réservé du texte 5">
            <a:extLst>
              <a:ext uri="{FF2B5EF4-FFF2-40B4-BE49-F238E27FC236}">
                <a16:creationId xmlns:a16="http://schemas.microsoft.com/office/drawing/2014/main" id="{C69D047D-E02A-4E22-AFCE-945B15C4B7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21753" y="3281225"/>
            <a:ext cx="2232001" cy="7343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Verdana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ts val="1800"/>
              </a:lnSpc>
              <a:spcBef>
                <a:spcPts val="312"/>
              </a:spcBef>
              <a:buClr>
                <a:srgbClr val="D00040"/>
              </a:buClr>
              <a:buFont typeface="Arial" pitchFamily="34" charset="0"/>
              <a:buNone/>
            </a:pPr>
            <a:r>
              <a:rPr lang="en-US" dirty="0" err="1"/>
              <a:t>Viribus</a:t>
            </a:r>
            <a:r>
              <a:rPr lang="en-US" dirty="0"/>
              <a:t>, </a:t>
            </a:r>
            <a:r>
              <a:rPr lang="en-US" dirty="0" err="1"/>
              <a:t>quarum</a:t>
            </a:r>
            <a:r>
              <a:rPr lang="en-US" dirty="0"/>
              <a:t> ad </a:t>
            </a:r>
            <a:r>
              <a:rPr lang="en-US" dirty="0" err="1"/>
              <a:t>praesens</a:t>
            </a:r>
            <a:r>
              <a:rPr lang="en-US" dirty="0"/>
              <a:t> </a:t>
            </a:r>
            <a:r>
              <a:rPr lang="en-US" dirty="0" err="1"/>
              <a:t>pleraeque</a:t>
            </a:r>
            <a:r>
              <a:rPr lang="en-US" dirty="0"/>
              <a:t> licet </a:t>
            </a:r>
            <a:r>
              <a:rPr lang="en-US" dirty="0" err="1"/>
              <a:t>Graecis</a:t>
            </a:r>
            <a:r>
              <a:rPr lang="en-US" dirty="0"/>
              <a:t> </a:t>
            </a:r>
            <a:r>
              <a:rPr lang="en-US" dirty="0" err="1"/>
              <a:t>nominibus</a:t>
            </a:r>
            <a:r>
              <a:rPr lang="en-US" dirty="0"/>
              <a:t> </a:t>
            </a:r>
            <a:r>
              <a:rPr lang="en-US" dirty="0" err="1"/>
              <a:t>appellentur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</a:t>
            </a:r>
            <a:r>
              <a:rPr lang="en-US" dirty="0" err="1"/>
              <a:t>isdem</a:t>
            </a:r>
            <a:r>
              <a:rPr lang="en-US" dirty="0"/>
              <a:t> ad </a:t>
            </a:r>
            <a:r>
              <a:rPr lang="en-US" dirty="0" err="1"/>
              <a:t>arbitrium</a:t>
            </a:r>
            <a:r>
              <a:rPr lang="en-US" dirty="0"/>
              <a:t> </a:t>
            </a:r>
            <a:r>
              <a:rPr lang="en-US" dirty="0" err="1"/>
              <a:t>inposita</a:t>
            </a:r>
            <a:r>
              <a:rPr lang="en-US" dirty="0"/>
              <a:t>.</a:t>
            </a:r>
          </a:p>
        </p:txBody>
      </p:sp>
      <p:sp>
        <p:nvSpPr>
          <p:cNvPr id="33" name="Espace réservé du texte 5">
            <a:extLst>
              <a:ext uri="{FF2B5EF4-FFF2-40B4-BE49-F238E27FC236}">
                <a16:creationId xmlns:a16="http://schemas.microsoft.com/office/drawing/2014/main" id="{50D2A001-2098-434C-A5C2-51B07DA9FA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19382" y="2986010"/>
            <a:ext cx="2232001" cy="21602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Small Font content</a:t>
            </a:r>
          </a:p>
        </p:txBody>
      </p:sp>
      <p:sp>
        <p:nvSpPr>
          <p:cNvPr id="34" name="Espace réservé du texte 5">
            <a:extLst>
              <a:ext uri="{FF2B5EF4-FFF2-40B4-BE49-F238E27FC236}">
                <a16:creationId xmlns:a16="http://schemas.microsoft.com/office/drawing/2014/main" id="{512AE462-CB21-43E2-A6AE-3885DC738B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9382" y="3269369"/>
            <a:ext cx="2232001" cy="7462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00"/>
              </a:lnSpc>
              <a:spcBef>
                <a:spcPts val="312"/>
              </a:spcBef>
              <a:buNone/>
              <a:def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Verdana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ts val="1800"/>
              </a:lnSpc>
              <a:spcBef>
                <a:spcPts val="312"/>
              </a:spcBef>
              <a:buClr>
                <a:srgbClr val="D00040"/>
              </a:buClr>
              <a:buFont typeface="Arial" pitchFamily="34" charset="0"/>
              <a:buNone/>
            </a:pPr>
            <a:r>
              <a:rPr lang="en-US" dirty="0" err="1"/>
              <a:t>Viribus</a:t>
            </a:r>
            <a:r>
              <a:rPr lang="en-US" dirty="0"/>
              <a:t>, </a:t>
            </a:r>
            <a:r>
              <a:rPr lang="en-US" dirty="0" err="1"/>
              <a:t>quarum</a:t>
            </a:r>
            <a:r>
              <a:rPr lang="en-US" dirty="0"/>
              <a:t> ad </a:t>
            </a:r>
            <a:r>
              <a:rPr lang="en-US" dirty="0" err="1"/>
              <a:t>praesens</a:t>
            </a:r>
            <a:r>
              <a:rPr lang="en-US" dirty="0"/>
              <a:t> </a:t>
            </a:r>
            <a:r>
              <a:rPr lang="en-US" dirty="0" err="1"/>
              <a:t>pleraeque</a:t>
            </a:r>
            <a:r>
              <a:rPr lang="en-US" dirty="0"/>
              <a:t> licet </a:t>
            </a:r>
            <a:r>
              <a:rPr lang="en-US" dirty="0" err="1"/>
              <a:t>Graecis</a:t>
            </a:r>
            <a:r>
              <a:rPr lang="en-US" dirty="0"/>
              <a:t> </a:t>
            </a:r>
            <a:r>
              <a:rPr lang="en-US" dirty="0" err="1"/>
              <a:t>nominibus</a:t>
            </a:r>
            <a:r>
              <a:rPr lang="en-US" dirty="0"/>
              <a:t> </a:t>
            </a:r>
            <a:r>
              <a:rPr lang="en-US" dirty="0" err="1"/>
              <a:t>appellentur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</a:t>
            </a:r>
            <a:r>
              <a:rPr lang="en-US" dirty="0" err="1"/>
              <a:t>isdem</a:t>
            </a:r>
            <a:r>
              <a:rPr lang="en-US" dirty="0"/>
              <a:t> ad </a:t>
            </a:r>
            <a:r>
              <a:rPr lang="en-US" dirty="0" err="1"/>
              <a:t>arbitrium</a:t>
            </a:r>
            <a:r>
              <a:rPr lang="en-US" dirty="0"/>
              <a:t> </a:t>
            </a:r>
            <a:r>
              <a:rPr lang="en-US" dirty="0" err="1"/>
              <a:t>inposita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622611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géné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551FB21A-0E6D-4C3A-92F2-1A4C404F79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619" y="339502"/>
            <a:ext cx="3527301" cy="7200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600" b="0">
                <a:solidFill>
                  <a:schemeClr val="tx1"/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31812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First line</a:t>
            </a:r>
            <a:br>
              <a:rPr lang="en-US" dirty="0"/>
            </a:br>
            <a:r>
              <a:rPr lang="en-US" dirty="0"/>
              <a:t>Of the headline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861B12CF-C574-4831-92D6-4B1240FED72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3850" y="1203325"/>
            <a:ext cx="7776542" cy="3097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266700" indent="0"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2pPr>
            <a:lvl3pPr marL="531812" indent="0"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3pPr>
            <a:lvl4pPr marL="809625" indent="0"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4pPr>
            <a:lvl5pPr marL="1076325" indent="0"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Cliquez pour ajouter le type de contenu souhaité</a:t>
            </a:r>
          </a:p>
        </p:txBody>
      </p:sp>
    </p:spTree>
    <p:extLst>
      <p:ext uri="{BB962C8B-B14F-4D97-AF65-F5344CB8AC3E}">
        <p14:creationId xmlns:p14="http://schemas.microsoft.com/office/powerpoint/2010/main" val="197294489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DFBC1-AD4D-EBB6-A2E3-E765A67F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30CFF-8555-85C4-640B-D84709499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150AE-50E9-E085-7461-BF62C98F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DB15E-D219-4554-BA0C-026EACEB8220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115A4-9981-8963-9CA2-9785279B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25CF9-086E-9CBF-133E-2505D189B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C4E01-F3AE-491D-8C75-8BA8B9BCD7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67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49" r:id="rId13"/>
    <p:sldLayoutId id="2147483650" r:id="rId14"/>
    <p:sldLayoutId id="2147483663" r:id="rId15"/>
    <p:sldLayoutId id="2147483664" r:id="rId16"/>
    <p:sldLayoutId id="2147483665" r:id="rId17"/>
  </p:sldLayoutIdLst>
  <p:transition>
    <p:fade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5185" y="123478"/>
            <a:ext cx="9011312" cy="936106"/>
          </a:xfrm>
        </p:spPr>
        <p:txBody>
          <a:bodyPr>
            <a:normAutofit/>
          </a:bodyPr>
          <a:lstStyle/>
          <a:p>
            <a:r>
              <a:rPr lang="en-US" dirty="0"/>
              <a:t>Title: </a:t>
            </a:r>
            <a:r>
              <a:rPr lang="en-US" sz="1600" dirty="0"/>
              <a:t>A Novel Method for Diagnosing Alzheimer’s Disease from MRI Scans using the ResNet50 Feature Extractor and the SVM Classifier</a:t>
            </a:r>
            <a:endParaRPr sz="1600" dirty="0"/>
          </a:p>
          <a:p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E6014A8-E51B-45DC-6105-F1E4A15A93A9}"/>
              </a:ext>
            </a:extLst>
          </p:cNvPr>
          <p:cNvSpPr txBox="1">
            <a:spLocks/>
          </p:cNvSpPr>
          <p:nvPr/>
        </p:nvSpPr>
        <p:spPr>
          <a:xfrm>
            <a:off x="25184" y="843558"/>
            <a:ext cx="9011311" cy="2036763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2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400" dirty="0"/>
              <a:t>Take Home :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800" dirty="0" err="1">
                <a:latin typeface="Arial" panose="020B0604020202020204" pitchFamily="34" charset="0"/>
              </a:rPr>
              <a:t>Problem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Addressed</a:t>
            </a:r>
            <a:r>
              <a:rPr lang="fr-FR" altLang="fr-FR" sz="2800" dirty="0">
                <a:latin typeface="Arial" panose="020B0604020202020204" pitchFamily="34" charset="0"/>
              </a:rPr>
              <a:t>: </a:t>
            </a:r>
            <a:r>
              <a:rPr lang="fr-FR" altLang="fr-FR" sz="2800" dirty="0" err="1">
                <a:latin typeface="Arial" panose="020B0604020202020204" pitchFamily="34" charset="0"/>
              </a:rPr>
              <a:t>Alzheimer’s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disease</a:t>
            </a:r>
            <a:r>
              <a:rPr lang="fr-FR" altLang="fr-FR" sz="2800" dirty="0">
                <a:latin typeface="Arial" panose="020B0604020202020204" pitchFamily="34" charset="0"/>
              </a:rPr>
              <a:t> (AD) </a:t>
            </a:r>
            <a:r>
              <a:rPr lang="fr-FR" altLang="fr-FR" sz="2800" dirty="0" err="1">
                <a:latin typeface="Arial" panose="020B0604020202020204" pitchFamily="34" charset="0"/>
              </a:rPr>
              <a:t>diagnosis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is</a:t>
            </a:r>
            <a:r>
              <a:rPr lang="fr-FR" altLang="fr-FR" sz="2800" dirty="0">
                <a:latin typeface="Arial" panose="020B0604020202020204" pitchFamily="34" charset="0"/>
              </a:rPr>
              <a:t> time-</a:t>
            </a:r>
            <a:r>
              <a:rPr lang="fr-FR" altLang="fr-FR" sz="2800" dirty="0" err="1">
                <a:latin typeface="Arial" panose="020B0604020202020204" pitchFamily="34" charset="0"/>
              </a:rPr>
              <a:t>consuming</a:t>
            </a:r>
            <a:r>
              <a:rPr lang="fr-FR" altLang="fr-FR" sz="2800" dirty="0">
                <a:latin typeface="Arial" panose="020B0604020202020204" pitchFamily="34" charset="0"/>
              </a:rPr>
              <a:t> and </a:t>
            </a:r>
            <a:r>
              <a:rPr lang="fr-FR" altLang="fr-FR" sz="2800" dirty="0" err="1">
                <a:latin typeface="Arial" panose="020B0604020202020204" pitchFamily="34" charset="0"/>
              </a:rPr>
              <a:t>error-prone</a:t>
            </a:r>
            <a:r>
              <a:rPr lang="fr-FR" altLang="fr-FR" sz="2800" dirty="0">
                <a:latin typeface="Arial" panose="020B0604020202020204" pitchFamily="34" charset="0"/>
              </a:rPr>
              <a:t> due to a </a:t>
            </a:r>
            <a:r>
              <a:rPr lang="fr-FR" altLang="fr-FR" sz="2800" dirty="0" err="1">
                <a:latin typeface="Arial" panose="020B0604020202020204" pitchFamily="34" charset="0"/>
              </a:rPr>
              <a:t>shortage</a:t>
            </a:r>
            <a:r>
              <a:rPr lang="fr-FR" altLang="fr-FR" sz="2800" dirty="0">
                <a:latin typeface="Arial" panose="020B0604020202020204" pitchFamily="34" charset="0"/>
              </a:rPr>
              <a:t> of </a:t>
            </a:r>
            <a:r>
              <a:rPr lang="fr-FR" altLang="fr-FR" sz="2800" dirty="0" err="1">
                <a:latin typeface="Arial" panose="020B0604020202020204" pitchFamily="34" charset="0"/>
              </a:rPr>
              <a:t>experienced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neurologists</a:t>
            </a:r>
            <a:r>
              <a:rPr lang="fr-FR" altLang="fr-FR" sz="2800" dirty="0">
                <a:latin typeface="Arial" panose="020B0604020202020204" pitchFamily="34" charset="0"/>
              </a:rPr>
              <a:t>, </a:t>
            </a:r>
            <a:r>
              <a:rPr lang="fr-FR" altLang="fr-FR" sz="2800" dirty="0" err="1">
                <a:latin typeface="Arial" panose="020B0604020202020204" pitchFamily="34" charset="0"/>
              </a:rPr>
              <a:t>especially</a:t>
            </a:r>
            <a:r>
              <a:rPr lang="fr-FR" altLang="fr-FR" sz="2800" dirty="0">
                <a:latin typeface="Arial" panose="020B0604020202020204" pitchFamily="34" charset="0"/>
              </a:rPr>
              <a:t> for </a:t>
            </a:r>
            <a:r>
              <a:rPr lang="fr-FR" altLang="fr-FR" sz="2800" dirty="0" err="1">
                <a:latin typeface="Arial" panose="020B0604020202020204" pitchFamily="34" charset="0"/>
              </a:rPr>
              <a:t>detecting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early</a:t>
            </a:r>
            <a:r>
              <a:rPr lang="fr-FR" altLang="fr-FR" sz="2800" dirty="0">
                <a:latin typeface="Arial" panose="020B0604020202020204" pitchFamily="34" charset="0"/>
              </a:rPr>
              <a:t>-stage AD.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800" dirty="0" err="1">
                <a:latin typeface="Arial" panose="020B0604020202020204" pitchFamily="34" charset="0"/>
              </a:rPr>
              <a:t>Methodology</a:t>
            </a:r>
            <a:r>
              <a:rPr lang="fr-FR" altLang="fr-FR" sz="2800" dirty="0">
                <a:latin typeface="Arial" panose="020B0604020202020204" pitchFamily="34" charset="0"/>
              </a:rPr>
              <a:t>: MRI scans are </a:t>
            </a:r>
            <a:r>
              <a:rPr lang="fr-FR" altLang="fr-FR" sz="2800" dirty="0" err="1">
                <a:latin typeface="Arial" panose="020B0604020202020204" pitchFamily="34" charset="0"/>
              </a:rPr>
              <a:t>preprocessed</a:t>
            </a:r>
            <a:r>
              <a:rPr lang="fr-FR" altLang="fr-FR" sz="2800" dirty="0">
                <a:latin typeface="Arial" panose="020B0604020202020204" pitchFamily="34" charset="0"/>
              </a:rPr>
              <a:t> (</a:t>
            </a:r>
            <a:r>
              <a:rPr lang="fr-FR" altLang="fr-FR" sz="2800" dirty="0" err="1">
                <a:latin typeface="Arial" panose="020B0604020202020204" pitchFamily="34" charset="0"/>
              </a:rPr>
              <a:t>median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filtering</a:t>
            </a:r>
            <a:r>
              <a:rPr lang="fr-FR" altLang="fr-FR" sz="2800" dirty="0">
                <a:latin typeface="Arial" panose="020B0604020202020204" pitchFamily="34" charset="0"/>
              </a:rPr>
              <a:t> + </a:t>
            </a:r>
            <a:r>
              <a:rPr lang="fr-FR" altLang="fr-FR" sz="2800" dirty="0" err="1">
                <a:latin typeface="Arial" panose="020B0604020202020204" pitchFamily="34" charset="0"/>
              </a:rPr>
              <a:t>watershed</a:t>
            </a:r>
            <a:r>
              <a:rPr lang="fr-FR" altLang="fr-FR" sz="2800" dirty="0">
                <a:latin typeface="Arial" panose="020B0604020202020204" pitchFamily="34" charset="0"/>
              </a:rPr>
              <a:t> segmentation), and </a:t>
            </a:r>
            <a:r>
              <a:rPr lang="fr-FR" altLang="fr-FR" sz="2800" dirty="0" err="1">
                <a:latin typeface="Arial" panose="020B0604020202020204" pitchFamily="34" charset="0"/>
              </a:rPr>
              <a:t>features</a:t>
            </a:r>
            <a:r>
              <a:rPr lang="fr-FR" altLang="fr-FR" sz="2800" dirty="0">
                <a:latin typeface="Arial" panose="020B0604020202020204" pitchFamily="34" charset="0"/>
              </a:rPr>
              <a:t> are </a:t>
            </a:r>
            <a:r>
              <a:rPr lang="fr-FR" altLang="fr-FR" sz="2800" dirty="0" err="1">
                <a:latin typeface="Arial" panose="020B0604020202020204" pitchFamily="34" charset="0"/>
              </a:rPr>
              <a:t>automatically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extracted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using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pre-trained</a:t>
            </a:r>
            <a:r>
              <a:rPr lang="fr-FR" altLang="fr-FR" sz="2800" dirty="0">
                <a:latin typeface="Arial" panose="020B0604020202020204" pitchFamily="34" charset="0"/>
              </a:rPr>
              <a:t> CNN </a:t>
            </a:r>
            <a:r>
              <a:rPr lang="fr-FR" altLang="fr-FR" sz="2800" dirty="0" err="1">
                <a:latin typeface="Arial" panose="020B0604020202020204" pitchFamily="34" charset="0"/>
              </a:rPr>
              <a:t>models</a:t>
            </a:r>
            <a:r>
              <a:rPr lang="fr-FR" altLang="fr-FR" sz="2800" dirty="0">
                <a:latin typeface="Arial" panose="020B0604020202020204" pitchFamily="34" charset="0"/>
              </a:rPr>
              <a:t> (</a:t>
            </a:r>
            <a:r>
              <a:rPr lang="fr-FR" altLang="fr-FR" sz="2800" dirty="0" err="1">
                <a:latin typeface="Arial" panose="020B0604020202020204" pitchFamily="34" charset="0"/>
              </a:rPr>
              <a:t>AlexNet</a:t>
            </a:r>
            <a:r>
              <a:rPr lang="fr-FR" altLang="fr-FR" sz="2800" dirty="0">
                <a:latin typeface="Arial" panose="020B0604020202020204" pitchFamily="34" charset="0"/>
              </a:rPr>
              <a:t>, VGG16/19, ResNet18/50).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800" dirty="0" err="1">
                <a:latin typeface="Arial" panose="020B0604020202020204" pitchFamily="34" charset="0"/>
              </a:rPr>
              <a:t>Feature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Optimization</a:t>
            </a:r>
            <a:r>
              <a:rPr lang="fr-FR" altLang="fr-FR" sz="2800" dirty="0">
                <a:latin typeface="Arial" panose="020B0604020202020204" pitchFamily="34" charset="0"/>
              </a:rPr>
              <a:t>: Principal Component </a:t>
            </a:r>
            <a:r>
              <a:rPr lang="fr-FR" altLang="fr-FR" sz="2800" dirty="0" err="1">
                <a:latin typeface="Arial" panose="020B0604020202020204" pitchFamily="34" charset="0"/>
              </a:rPr>
              <a:t>Analysis</a:t>
            </a:r>
            <a:r>
              <a:rPr lang="fr-FR" altLang="fr-FR" sz="2800" dirty="0">
                <a:latin typeface="Arial" panose="020B0604020202020204" pitchFamily="34" charset="0"/>
              </a:rPr>
              <a:t> (PCA) </a:t>
            </a:r>
            <a:r>
              <a:rPr lang="fr-FR" altLang="fr-FR" sz="2800" dirty="0" err="1">
                <a:latin typeface="Arial" panose="020B0604020202020204" pitchFamily="34" charset="0"/>
              </a:rPr>
              <a:t>is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used</a:t>
            </a:r>
            <a:r>
              <a:rPr lang="fr-FR" altLang="fr-FR" sz="2800" dirty="0">
                <a:latin typeface="Arial" panose="020B0604020202020204" pitchFamily="34" charset="0"/>
              </a:rPr>
              <a:t> to </a:t>
            </a:r>
            <a:r>
              <a:rPr lang="fr-FR" altLang="fr-FR" sz="2800" dirty="0" err="1">
                <a:latin typeface="Arial" panose="020B0604020202020204" pitchFamily="34" charset="0"/>
              </a:rPr>
              <a:t>reduce</a:t>
            </a:r>
            <a:r>
              <a:rPr lang="fr-FR" altLang="fr-FR" sz="2800" dirty="0">
                <a:latin typeface="Arial" panose="020B0604020202020204" pitchFamily="34" charset="0"/>
              </a:rPr>
              <a:t> and </a:t>
            </a:r>
            <a:r>
              <a:rPr lang="fr-FR" altLang="fr-FR" sz="2800" dirty="0" err="1">
                <a:latin typeface="Arial" panose="020B0604020202020204" pitchFamily="34" charset="0"/>
              </a:rPr>
              <a:t>optimize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extracted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features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before</a:t>
            </a:r>
            <a:r>
              <a:rPr lang="fr-FR" altLang="fr-FR" sz="2800" dirty="0">
                <a:latin typeface="Arial" panose="020B0604020202020204" pitchFamily="34" charset="0"/>
              </a:rPr>
              <a:t> classification.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800" dirty="0">
                <a:latin typeface="Arial" panose="020B0604020202020204" pitchFamily="34" charset="0"/>
              </a:rPr>
              <a:t>Classification </a:t>
            </a:r>
            <a:r>
              <a:rPr lang="fr-FR" altLang="fr-FR" sz="2800" dirty="0" err="1">
                <a:latin typeface="Arial" panose="020B0604020202020204" pitchFamily="34" charset="0"/>
              </a:rPr>
              <a:t>Approach</a:t>
            </a:r>
            <a:r>
              <a:rPr lang="fr-FR" altLang="fr-FR" sz="2800" dirty="0">
                <a:latin typeface="Arial" panose="020B0604020202020204" pitchFamily="34" charset="0"/>
              </a:rPr>
              <a:t>: </a:t>
            </a:r>
            <a:r>
              <a:rPr lang="fr-FR" altLang="fr-FR" sz="2800" dirty="0" err="1">
                <a:latin typeface="Arial" panose="020B0604020202020204" pitchFamily="34" charset="0"/>
              </a:rPr>
              <a:t>Conventional</a:t>
            </a:r>
            <a:r>
              <a:rPr lang="fr-FR" altLang="fr-FR" sz="2800" dirty="0">
                <a:latin typeface="Arial" panose="020B0604020202020204" pitchFamily="34" charset="0"/>
              </a:rPr>
              <a:t> machine </a:t>
            </a:r>
            <a:r>
              <a:rPr lang="fr-FR" altLang="fr-FR" sz="2800" dirty="0" err="1">
                <a:latin typeface="Arial" panose="020B0604020202020204" pitchFamily="34" charset="0"/>
              </a:rPr>
              <a:t>learning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classifiers</a:t>
            </a:r>
            <a:r>
              <a:rPr lang="fr-FR" altLang="fr-FR" sz="2800" dirty="0">
                <a:latin typeface="Arial" panose="020B0604020202020204" pitchFamily="34" charset="0"/>
              </a:rPr>
              <a:t> (</a:t>
            </a:r>
            <a:r>
              <a:rPr lang="fr-FR" altLang="fr-FR" sz="2800" dirty="0" err="1">
                <a:latin typeface="Arial" panose="020B0604020202020204" pitchFamily="34" charset="0"/>
              </a:rPr>
              <a:t>Decision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Tree</a:t>
            </a:r>
            <a:r>
              <a:rPr lang="fr-FR" altLang="fr-FR" sz="2800" dirty="0">
                <a:latin typeface="Arial" panose="020B0604020202020204" pitchFamily="34" charset="0"/>
              </a:rPr>
              <a:t>, KNN, SVM, LP Boost, Total Boost) are </a:t>
            </a:r>
            <a:r>
              <a:rPr lang="fr-FR" altLang="fr-FR" sz="2800" dirty="0" err="1">
                <a:latin typeface="Arial" panose="020B0604020202020204" pitchFamily="34" charset="0"/>
              </a:rPr>
              <a:t>applied</a:t>
            </a:r>
            <a:r>
              <a:rPr lang="fr-FR" altLang="fr-FR" sz="2800" dirty="0">
                <a:latin typeface="Arial" panose="020B0604020202020204" pitchFamily="34" charset="0"/>
              </a:rPr>
              <a:t> to the </a:t>
            </a:r>
            <a:r>
              <a:rPr lang="fr-FR" altLang="fr-FR" sz="2800" dirty="0" err="1">
                <a:latin typeface="Arial" panose="020B0604020202020204" pitchFamily="34" charset="0"/>
              </a:rPr>
              <a:t>optimized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features</a:t>
            </a:r>
            <a:r>
              <a:rPr lang="fr-FR" altLang="fr-FR" sz="2800" dirty="0">
                <a:latin typeface="Arial" panose="020B0604020202020204" pitchFamily="34" charset="0"/>
              </a:rPr>
              <a:t> to </a:t>
            </a:r>
            <a:r>
              <a:rPr lang="fr-FR" altLang="fr-FR" sz="2800" dirty="0" err="1">
                <a:latin typeface="Arial" panose="020B0604020202020204" pitchFamily="34" charset="0"/>
              </a:rPr>
              <a:t>perform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multi-stage</a:t>
            </a:r>
            <a:r>
              <a:rPr lang="fr-FR" altLang="fr-FR" sz="2800" dirty="0">
                <a:latin typeface="Arial" panose="020B0604020202020204" pitchFamily="34" charset="0"/>
              </a:rPr>
              <a:t> classification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>
                <a:latin typeface="Arial" panose="020B0604020202020204" pitchFamily="34" charset="0"/>
              </a:rPr>
              <a:t>  of AD, </a:t>
            </a:r>
            <a:r>
              <a:rPr lang="fr-FR" altLang="fr-FR" sz="2800" dirty="0" err="1">
                <a:latin typeface="Arial" panose="020B0604020202020204" pitchFamily="34" charset="0"/>
              </a:rPr>
              <a:t>distinguishing</a:t>
            </a:r>
            <a:r>
              <a:rPr lang="fr-FR" altLang="fr-FR" sz="2800" dirty="0">
                <a:latin typeface="Arial" panose="020B0604020202020204" pitchFamily="34" charset="0"/>
              </a:rPr>
              <a:t> AD, MCI, and </a:t>
            </a:r>
            <a:r>
              <a:rPr lang="fr-FR" altLang="fr-FR" sz="2800" dirty="0" err="1">
                <a:latin typeface="Arial" panose="020B0604020202020204" pitchFamily="34" charset="0"/>
              </a:rPr>
              <a:t>cognitively</a:t>
            </a:r>
            <a:r>
              <a:rPr lang="fr-FR" altLang="fr-FR" sz="2800" dirty="0">
                <a:latin typeface="Arial" panose="020B0604020202020204" pitchFamily="34" charset="0"/>
              </a:rPr>
              <a:t> normal (CN) cases.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800" dirty="0">
                <a:latin typeface="Arial" panose="020B0604020202020204" pitchFamily="34" charset="0"/>
              </a:rPr>
              <a:t>Key </a:t>
            </a:r>
            <a:r>
              <a:rPr lang="fr-FR" altLang="fr-FR" sz="2800" dirty="0" err="1">
                <a:latin typeface="Arial" panose="020B0604020202020204" pitchFamily="34" charset="0"/>
              </a:rPr>
              <a:t>Result</a:t>
            </a:r>
            <a:r>
              <a:rPr lang="fr-FR" altLang="fr-FR" sz="2800" dirty="0">
                <a:latin typeface="Arial" panose="020B0604020202020204" pitchFamily="34" charset="0"/>
              </a:rPr>
              <a:t>: The SVM classifier </a:t>
            </a:r>
            <a:r>
              <a:rPr lang="fr-FR" altLang="fr-FR" sz="2800" dirty="0" err="1">
                <a:latin typeface="Arial" panose="020B0604020202020204" pitchFamily="34" charset="0"/>
              </a:rPr>
              <a:t>with</a:t>
            </a:r>
            <a:r>
              <a:rPr lang="fr-FR" altLang="fr-FR" sz="2800" dirty="0">
                <a:latin typeface="Arial" panose="020B0604020202020204" pitchFamily="34" charset="0"/>
              </a:rPr>
              <a:t> ResNet50 </a:t>
            </a:r>
            <a:r>
              <a:rPr lang="fr-FR" altLang="fr-FR" sz="2800" dirty="0" err="1">
                <a:latin typeface="Arial" panose="020B0604020202020204" pitchFamily="34" charset="0"/>
              </a:rPr>
              <a:t>features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achieved</a:t>
            </a:r>
            <a:r>
              <a:rPr lang="fr-FR" altLang="fr-FR" sz="2800" dirty="0">
                <a:latin typeface="Arial" panose="020B0604020202020204" pitchFamily="34" charset="0"/>
              </a:rPr>
              <a:t> high multi-class </a:t>
            </a:r>
            <a:r>
              <a:rPr lang="fr-FR" altLang="fr-FR" sz="2800" dirty="0" err="1">
                <a:latin typeface="Arial" panose="020B0604020202020204" pitchFamily="34" charset="0"/>
              </a:rPr>
              <a:t>accuracy</a:t>
            </a:r>
            <a:r>
              <a:rPr lang="fr-FR" altLang="fr-FR" sz="2800" dirty="0">
                <a:latin typeface="Arial" panose="020B0604020202020204" pitchFamily="34" charset="0"/>
              </a:rPr>
              <a:t>—99.78% training, 99.52% validation, and 98.71% </a:t>
            </a:r>
            <a:r>
              <a:rPr lang="fr-FR" altLang="fr-FR" sz="2800" dirty="0" err="1">
                <a:latin typeface="Arial" panose="020B0604020202020204" pitchFamily="34" charset="0"/>
              </a:rPr>
              <a:t>testing</a:t>
            </a:r>
            <a:r>
              <a:rPr lang="fr-FR" altLang="fr-FR" sz="2800" dirty="0">
                <a:latin typeface="Arial" panose="020B0604020202020204" pitchFamily="34" charset="0"/>
              </a:rPr>
              <a:t>—</a:t>
            </a:r>
            <a:r>
              <a:rPr lang="fr-FR" altLang="fr-FR" sz="2800" dirty="0" err="1">
                <a:latin typeface="Arial" panose="020B0604020202020204" pitchFamily="34" charset="0"/>
              </a:rPr>
              <a:t>demonstrating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that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combining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deep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feature</a:t>
            </a:r>
            <a:endParaRPr lang="fr-FR" altLang="fr-FR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>
                <a:latin typeface="Arial" panose="020B0604020202020204" pitchFamily="34" charset="0"/>
              </a:rPr>
              <a:t>  extraction, </a:t>
            </a:r>
            <a:r>
              <a:rPr lang="fr-FR" altLang="fr-FR" sz="2800" dirty="0" err="1">
                <a:latin typeface="Arial" panose="020B0604020202020204" pitchFamily="34" charset="0"/>
              </a:rPr>
              <a:t>feature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optimization</a:t>
            </a:r>
            <a:r>
              <a:rPr lang="fr-FR" altLang="fr-FR" sz="2800" dirty="0">
                <a:latin typeface="Arial" panose="020B0604020202020204" pitchFamily="34" charset="0"/>
              </a:rPr>
              <a:t>, and </a:t>
            </a:r>
            <a:r>
              <a:rPr lang="fr-FR" altLang="fr-FR" sz="2800" dirty="0" err="1">
                <a:latin typeface="Arial" panose="020B0604020202020204" pitchFamily="34" charset="0"/>
              </a:rPr>
              <a:t>classical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classifiers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is</a:t>
            </a:r>
            <a:r>
              <a:rPr lang="fr-FR" altLang="fr-FR" sz="2800" dirty="0">
                <a:latin typeface="Arial" panose="020B0604020202020204" pitchFamily="34" charset="0"/>
              </a:rPr>
              <a:t> </a:t>
            </a:r>
            <a:r>
              <a:rPr lang="fr-FR" altLang="fr-FR" sz="2800" dirty="0" err="1">
                <a:latin typeface="Arial" panose="020B0604020202020204" pitchFamily="34" charset="0"/>
              </a:rPr>
              <a:t>highly</a:t>
            </a:r>
            <a:r>
              <a:rPr lang="fr-FR" altLang="fr-FR" sz="2800" dirty="0">
                <a:latin typeface="Arial" panose="020B0604020202020204" pitchFamily="34" charset="0"/>
              </a:rPr>
              <a:t> effective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5B0EA8E-9138-E4A1-FC7F-62EE5F7A0FFF}"/>
              </a:ext>
            </a:extLst>
          </p:cNvPr>
          <p:cNvSpPr txBox="1">
            <a:spLocks/>
          </p:cNvSpPr>
          <p:nvPr/>
        </p:nvSpPr>
        <p:spPr>
          <a:xfrm>
            <a:off x="25184" y="3003798"/>
            <a:ext cx="9118816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2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Images </a:t>
            </a:r>
          </a:p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F1EC481-CA26-FE1C-DE14-B745933D743D}"/>
              </a:ext>
            </a:extLst>
          </p:cNvPr>
          <p:cNvSpPr txBox="1">
            <a:spLocks/>
          </p:cNvSpPr>
          <p:nvPr/>
        </p:nvSpPr>
        <p:spPr>
          <a:xfrm>
            <a:off x="25184" y="4783459"/>
            <a:ext cx="3527301" cy="720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2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Purpose: Idea/Literature/Methods/Other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3BBC-8529-3B31-8E1F-AB29743F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51389-3B73-18C6-06FC-A3C44100F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84" y="0"/>
            <a:ext cx="9011313" cy="1206328"/>
          </a:xfrm>
        </p:spPr>
        <p:txBody>
          <a:bodyPr>
            <a:normAutofit/>
          </a:bodyPr>
          <a:lstStyle/>
          <a:p>
            <a:r>
              <a:rPr lang="en-US" dirty="0"/>
              <a:t>Title: </a:t>
            </a:r>
            <a:r>
              <a:rPr lang="en-US" sz="1600" dirty="0"/>
              <a:t>Multi-scale enhanced graph convolutional network for mild cognitive impairment detection</a:t>
            </a:r>
            <a:endParaRPr sz="1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8E1AA9-3E5D-FD71-C8C0-47B4A968CE08}"/>
              </a:ext>
            </a:extLst>
          </p:cNvPr>
          <p:cNvSpPr txBox="1">
            <a:spLocks/>
          </p:cNvSpPr>
          <p:nvPr/>
        </p:nvSpPr>
        <p:spPr>
          <a:xfrm>
            <a:off x="25184" y="771550"/>
            <a:ext cx="9011311" cy="2036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2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Take Home :</a:t>
            </a:r>
          </a:p>
          <a:p>
            <a:r>
              <a:rPr lang="en-US" sz="8000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58D9B88-1783-D0EB-70EE-2FB64259D967}"/>
              </a:ext>
            </a:extLst>
          </p:cNvPr>
          <p:cNvSpPr txBox="1">
            <a:spLocks/>
          </p:cNvSpPr>
          <p:nvPr/>
        </p:nvSpPr>
        <p:spPr>
          <a:xfrm>
            <a:off x="25184" y="3003798"/>
            <a:ext cx="9118816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2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Images </a:t>
            </a:r>
          </a:p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1439928-50A3-A78C-9F99-B07D767CAFD2}"/>
              </a:ext>
            </a:extLst>
          </p:cNvPr>
          <p:cNvSpPr txBox="1">
            <a:spLocks/>
          </p:cNvSpPr>
          <p:nvPr/>
        </p:nvSpPr>
        <p:spPr>
          <a:xfrm>
            <a:off x="25184" y="4783459"/>
            <a:ext cx="3527301" cy="720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685800" rtl="0" eaLnBrk="1" latinLnBrk="0" hangingPunct="1">
              <a:lnSpc>
                <a:spcPts val="25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1812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Purpose: </a:t>
            </a:r>
            <a:r>
              <a:rPr lang="en-US" dirty="0">
                <a:solidFill>
                  <a:srgbClr val="FF0000"/>
                </a:solidFill>
              </a:rPr>
              <a:t>Idea</a:t>
            </a:r>
            <a:r>
              <a:rPr lang="en-US" dirty="0"/>
              <a:t>/Literature/Methods/Other </a:t>
            </a: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BCCDF5-B252-2FE2-DFE3-91CFDA988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7483" y="1206328"/>
            <a:ext cx="93041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mild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cognitive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impairment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(MCI), an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stage of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Alzheimer’s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connectivity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Combines structural (DTI) and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(R-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fMRI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data,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along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information, to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population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000" dirty="0"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Representation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Uses local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weighted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clustering coefficients (LWCC) to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structural and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connectivity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graph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000" dirty="0"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Architecture: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multi-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graph convolution network (MSE-GCN)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GCN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walk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000" dirty="0"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essential graph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MCI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90.39%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classification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ADNI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effectiveness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000" dirty="0"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multi-modal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graph-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fr-FR" altLang="fr-F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542566-A3B7-CEF1-AAAF-24DD95F67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381958"/>
            <a:ext cx="3543482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7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6274</TotalTime>
  <Words>371</Words>
  <Application>Microsoft Office PowerPoint</Application>
  <PresentationFormat>On-screen Show (16:9)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paola_thellung</dc:creator>
  <cp:lastModifiedBy>Dennis BOATENG</cp:lastModifiedBy>
  <cp:revision>154</cp:revision>
  <dcterms:created xsi:type="dcterms:W3CDTF">2017-12-01T10:36:27Z</dcterms:created>
  <dcterms:modified xsi:type="dcterms:W3CDTF">2025-10-02T09:22:53Z</dcterms:modified>
</cp:coreProperties>
</file>